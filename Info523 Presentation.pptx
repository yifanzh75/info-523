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8288000" cy="10287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rBrTqGOSMI2FGMHxkA0PVo3Mc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1C2B2-0F56-4812-8FC0-B9A63A64FECB}">
  <a:tblStyle styleId="{4E71C2B2-0F56-4812-8FC0-B9A63A64FE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>
      <p:cViewPr varScale="1">
        <p:scale>
          <a:sx n="75" d="100"/>
          <a:sy n="7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0358438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f5f70fa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f5f70fa66_0_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af5f70fa66_0_0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eca1d620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aeca1d6202_0_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3aeca1d6202_0_8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55d6b771_6_1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3ae55d6b771_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ca1d6202_0_2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aeca1d620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55d6b771_6_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3ae55d6b771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e55d6b771_6_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3ae55d6b771_6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5eadfc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e5eadfc76_0_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ae5eadfc76_0_0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f188c8ad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f188c8ade_0_4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Not a good method for clustering this dataset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Highly correlated variables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Assumes spherical cluster shapes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304" name="Google Shape;304;g3af188c8ade_0_41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f188c8ad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f188c8ade_0_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Not a good method for clustering this dataset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Highly correlated variables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Assumes spherical cluster shapes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311" name="Google Shape;311;g3af188c8ade_0_7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b421d44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eb421d446_0_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aeb421d446_0_4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f188c8ad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f188c8ade_0_1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af188c8ade_0_19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f188c8ad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f188c8ade_0_2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af188c8ade_0_28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6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9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9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/>
          <p:nvPr/>
        </p:nvSpPr>
        <p:spPr>
          <a:xfrm>
            <a:off x="-4482" y="0"/>
            <a:ext cx="18288000" cy="8049516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0"/>
          <p:cNvSpPr/>
          <p:nvPr/>
        </p:nvSpPr>
        <p:spPr>
          <a:xfrm>
            <a:off x="-454025" y="10287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p30"/>
          <p:cNvGrpSpPr/>
          <p:nvPr/>
        </p:nvGrpSpPr>
        <p:grpSpPr>
          <a:xfrm rot="10800000">
            <a:off x="873404" y="8823172"/>
            <a:ext cx="3054617" cy="73818"/>
            <a:chOff x="9759603" y="5883440"/>
            <a:chExt cx="3054617" cy="73818"/>
          </a:xfrm>
        </p:grpSpPr>
        <p:pic>
          <p:nvPicPr>
            <p:cNvPr id="21" name="Google Shape;21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960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860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57615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20662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35562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04632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653638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264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95164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100654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249660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39866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4767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696677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568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94688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143695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292700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441706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590712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39717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" name="Google Shape;4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0"/>
          <p:cNvSpPr/>
          <p:nvPr/>
        </p:nvSpPr>
        <p:spPr>
          <a:xfrm>
            <a:off x="-4482" y="0"/>
            <a:ext cx="18288000" cy="8049516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0"/>
          <p:cNvSpPr/>
          <p:nvPr/>
        </p:nvSpPr>
        <p:spPr>
          <a:xfrm>
            <a:off x="-454025" y="10287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30"/>
          <p:cNvGrpSpPr/>
          <p:nvPr/>
        </p:nvGrpSpPr>
        <p:grpSpPr>
          <a:xfrm rot="10800000">
            <a:off x="873404" y="8823172"/>
            <a:ext cx="3054617" cy="73818"/>
            <a:chOff x="9759603" y="5883440"/>
            <a:chExt cx="3054617" cy="73818"/>
          </a:xfrm>
        </p:grpSpPr>
        <p:pic>
          <p:nvPicPr>
            <p:cNvPr id="46" name="Google Shape;46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960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860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57615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20662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35562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04632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653638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264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95164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100654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249660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39866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4767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696677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568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94688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143695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292700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441706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590712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39717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" name="Google Shape;6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1"/>
          <p:cNvSpPr/>
          <p:nvPr/>
        </p:nvSpPr>
        <p:spPr>
          <a:xfrm rot="5400000" flipH="1">
            <a:off x="9140192" y="-4766911"/>
            <a:ext cx="45719" cy="182880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1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1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1"/>
          <p:cNvSpPr/>
          <p:nvPr/>
        </p:nvSpPr>
        <p:spPr>
          <a:xfrm rot="5400000" flipH="1">
            <a:off x="9140192" y="-4766911"/>
            <a:ext cx="45719" cy="182880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1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1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2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/>
          <p:nvPr/>
        </p:nvSpPr>
        <p:spPr>
          <a:xfrm>
            <a:off x="2137299" y="1028700"/>
            <a:ext cx="28575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2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2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/>
          <p:nvPr/>
        </p:nvSpPr>
        <p:spPr>
          <a:xfrm>
            <a:off x="2137299" y="1028700"/>
            <a:ext cx="28575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2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5"/>
          <p:cNvSpPr/>
          <p:nvPr/>
        </p:nvSpPr>
        <p:spPr>
          <a:xfrm>
            <a:off x="1028700" y="1028700"/>
            <a:ext cx="4552949" cy="82295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5"/>
          <p:cNvSpPr/>
          <p:nvPr/>
        </p:nvSpPr>
        <p:spPr>
          <a:xfrm>
            <a:off x="7015305" y="6989450"/>
            <a:ext cx="7200900" cy="28575"/>
          </a:xfrm>
          <a:custGeom>
            <a:avLst/>
            <a:gdLst/>
            <a:ahLst/>
            <a:cxnLst/>
            <a:rect l="l" t="t" r="r" b="b"/>
            <a:pathLst>
              <a:path w="7200900" h="28575" extrusionOk="0">
                <a:moveTo>
                  <a:pt x="7200899" y="28574"/>
                </a:moveTo>
                <a:lnTo>
                  <a:pt x="0" y="28574"/>
                </a:lnTo>
                <a:lnTo>
                  <a:pt x="0" y="0"/>
                </a:lnTo>
                <a:lnTo>
                  <a:pt x="7200899" y="0"/>
                </a:lnTo>
                <a:lnTo>
                  <a:pt x="7200899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5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5"/>
          <p:cNvSpPr/>
          <p:nvPr/>
        </p:nvSpPr>
        <p:spPr>
          <a:xfrm>
            <a:off x="1028700" y="1028700"/>
            <a:ext cx="4552949" cy="82295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5"/>
          <p:cNvSpPr/>
          <p:nvPr/>
        </p:nvSpPr>
        <p:spPr>
          <a:xfrm>
            <a:off x="7015305" y="6989450"/>
            <a:ext cx="7200900" cy="28575"/>
          </a:xfrm>
          <a:custGeom>
            <a:avLst/>
            <a:gdLst/>
            <a:ahLst/>
            <a:cxnLst/>
            <a:rect l="l" t="t" r="r" b="b"/>
            <a:pathLst>
              <a:path w="7200900" h="28575" extrusionOk="0">
                <a:moveTo>
                  <a:pt x="7200899" y="28574"/>
                </a:moveTo>
                <a:lnTo>
                  <a:pt x="0" y="28574"/>
                </a:lnTo>
                <a:lnTo>
                  <a:pt x="0" y="0"/>
                </a:lnTo>
                <a:lnTo>
                  <a:pt x="7200899" y="0"/>
                </a:lnTo>
                <a:lnTo>
                  <a:pt x="7200899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5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/>
          <p:nvPr/>
        </p:nvSpPr>
        <p:spPr>
          <a:xfrm>
            <a:off x="2717878" y="1026464"/>
            <a:ext cx="7587081" cy="819681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6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6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6"/>
          <p:cNvSpPr/>
          <p:nvPr/>
        </p:nvSpPr>
        <p:spPr>
          <a:xfrm>
            <a:off x="2146264" y="1026464"/>
            <a:ext cx="28575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6"/>
          <p:cNvSpPr/>
          <p:nvPr/>
        </p:nvSpPr>
        <p:spPr>
          <a:xfrm>
            <a:off x="2717878" y="1026464"/>
            <a:ext cx="7587081" cy="819681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6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6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6"/>
          <p:cNvSpPr/>
          <p:nvPr/>
        </p:nvSpPr>
        <p:spPr>
          <a:xfrm>
            <a:off x="2146264" y="1026464"/>
            <a:ext cx="28575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7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7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1028700" y="4508027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 extrusionOk="0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7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1028700" y="4508027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 extrusionOk="0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8"/>
          <p:cNvSpPr/>
          <p:nvPr/>
        </p:nvSpPr>
        <p:spPr>
          <a:xfrm>
            <a:off x="8842073" y="6118283"/>
            <a:ext cx="6162674" cy="336403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8"/>
          <p:cNvSpPr/>
          <p:nvPr/>
        </p:nvSpPr>
        <p:spPr>
          <a:xfrm>
            <a:off x="8842073" y="1260941"/>
            <a:ext cx="6162674" cy="411255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8"/>
          <p:cNvSpPr/>
          <p:nvPr/>
        </p:nvSpPr>
        <p:spPr>
          <a:xfrm>
            <a:off x="15520287" y="1260941"/>
            <a:ext cx="45719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0" y="0"/>
                </a:moveTo>
                <a:lnTo>
                  <a:pt x="28574" y="0"/>
                </a:lnTo>
                <a:lnTo>
                  <a:pt x="28574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8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8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9"/>
          <p:cNvSpPr/>
          <p:nvPr/>
        </p:nvSpPr>
        <p:spPr>
          <a:xfrm>
            <a:off x="9144000" y="0"/>
            <a:ext cx="9143999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9"/>
          <p:cNvSpPr/>
          <p:nvPr/>
        </p:nvSpPr>
        <p:spPr>
          <a:xfrm rot="5400000">
            <a:off x="6860525" y="4895850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9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9"/>
          <p:cNvSpPr/>
          <p:nvPr/>
        </p:nvSpPr>
        <p:spPr>
          <a:xfrm>
            <a:off x="9144000" y="0"/>
            <a:ext cx="9143999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9"/>
          <p:cNvSpPr/>
          <p:nvPr/>
        </p:nvSpPr>
        <p:spPr>
          <a:xfrm rot="5400000">
            <a:off x="6860525" y="4895850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9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0"/>
          <p:cNvSpPr/>
          <p:nvPr/>
        </p:nvSpPr>
        <p:spPr>
          <a:xfrm>
            <a:off x="8842073" y="6118283"/>
            <a:ext cx="6162674" cy="336403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0"/>
          <p:cNvSpPr/>
          <p:nvPr/>
        </p:nvSpPr>
        <p:spPr>
          <a:xfrm>
            <a:off x="8842073" y="1260941"/>
            <a:ext cx="6162674" cy="411255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0"/>
          <p:cNvSpPr/>
          <p:nvPr/>
        </p:nvSpPr>
        <p:spPr>
          <a:xfrm>
            <a:off x="15520287" y="1260941"/>
            <a:ext cx="45719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0" y="0"/>
                </a:moveTo>
                <a:lnTo>
                  <a:pt x="28574" y="0"/>
                </a:lnTo>
                <a:lnTo>
                  <a:pt x="28574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0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0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/>
          <p:nvPr/>
        </p:nvSpPr>
        <p:spPr>
          <a:xfrm>
            <a:off x="-4482" y="0"/>
            <a:ext cx="18288000" cy="8049516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1"/>
          <p:cNvSpPr/>
          <p:nvPr/>
        </p:nvSpPr>
        <p:spPr>
          <a:xfrm>
            <a:off x="-454025" y="10287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41"/>
          <p:cNvGrpSpPr/>
          <p:nvPr/>
        </p:nvGrpSpPr>
        <p:grpSpPr>
          <a:xfrm rot="10800000">
            <a:off x="873404" y="8823172"/>
            <a:ext cx="3054617" cy="73818"/>
            <a:chOff x="9759603" y="5883440"/>
            <a:chExt cx="3054617" cy="73818"/>
          </a:xfrm>
        </p:grpSpPr>
        <p:pic>
          <p:nvPicPr>
            <p:cNvPr id="148" name="Google Shape;148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960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860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57615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20662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35562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04632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653638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264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951649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100654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249660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398666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47671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696677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845683" y="5883440"/>
              <a:ext cx="74502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94688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143695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292700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441706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590712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4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39717" y="5883440"/>
              <a:ext cx="74503" cy="7381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9" name="Google Shape;16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2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3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3"/>
          <p:cNvSpPr/>
          <p:nvPr/>
        </p:nvSpPr>
        <p:spPr>
          <a:xfrm>
            <a:off x="1028700" y="4508027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 extrusionOk="0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/>
          <p:nvPr/>
        </p:nvSpPr>
        <p:spPr>
          <a:xfrm>
            <a:off x="2717878" y="1026464"/>
            <a:ext cx="7587081" cy="819681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4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4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4"/>
          <p:cNvSpPr/>
          <p:nvPr/>
        </p:nvSpPr>
        <p:spPr>
          <a:xfrm>
            <a:off x="2146264" y="1026464"/>
            <a:ext cx="28575" cy="8229600"/>
          </a:xfrm>
          <a:custGeom>
            <a:avLst/>
            <a:gdLst/>
            <a:ahLst/>
            <a:cxnLst/>
            <a:rect l="l" t="t" r="r" b="b"/>
            <a:pathLst>
              <a:path w="28575" h="8229600" extrusionOk="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/>
          <p:nvPr/>
        </p:nvSpPr>
        <p:spPr>
          <a:xfrm>
            <a:off x="9144000" y="0"/>
            <a:ext cx="9143999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5"/>
          <p:cNvSpPr/>
          <p:nvPr/>
        </p:nvSpPr>
        <p:spPr>
          <a:xfrm rot="5400000">
            <a:off x="6860525" y="4895850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5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6"/>
          <p:cNvSpPr/>
          <p:nvPr/>
        </p:nvSpPr>
        <p:spPr>
          <a:xfrm>
            <a:off x="1028700" y="1028700"/>
            <a:ext cx="4552949" cy="82295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81547" y="8431466"/>
            <a:ext cx="1297190" cy="121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6"/>
          <p:cNvSpPr/>
          <p:nvPr/>
        </p:nvSpPr>
        <p:spPr>
          <a:xfrm>
            <a:off x="7015305" y="6989450"/>
            <a:ext cx="7200900" cy="28575"/>
          </a:xfrm>
          <a:custGeom>
            <a:avLst/>
            <a:gdLst/>
            <a:ahLst/>
            <a:cxnLst/>
            <a:rect l="l" t="t" r="r" b="b"/>
            <a:pathLst>
              <a:path w="7200900" h="28575" extrusionOk="0">
                <a:moveTo>
                  <a:pt x="7200899" y="28574"/>
                </a:moveTo>
                <a:lnTo>
                  <a:pt x="0" y="28574"/>
                </a:lnTo>
                <a:lnTo>
                  <a:pt x="0" y="0"/>
                </a:lnTo>
                <a:lnTo>
                  <a:pt x="7200899" y="0"/>
                </a:lnTo>
                <a:lnTo>
                  <a:pt x="7200899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6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"/>
          <p:cNvSpPr txBox="1">
            <a:spLocks noGrp="1"/>
          </p:cNvSpPr>
          <p:nvPr>
            <p:ph type="title"/>
          </p:nvPr>
        </p:nvSpPr>
        <p:spPr>
          <a:xfrm>
            <a:off x="1969500" y="2831100"/>
            <a:ext cx="14349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8275" rIns="0" bIns="0" anchor="t" anchorCtr="0">
            <a:noAutofit/>
          </a:bodyPr>
          <a:lstStyle/>
          <a:p>
            <a:pPr marL="12700" marR="5080" lvl="0" indent="0" algn="ctr" rtl="0">
              <a:lnSpc>
                <a:spcPct val="111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None/>
            </a:pPr>
            <a:r>
              <a:rPr lang="en-US" sz="7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 Risk from Daily Habits</a:t>
            </a:r>
            <a:endParaRPr sz="7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ctr" rtl="0">
              <a:lnSpc>
                <a:spcPct val="111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None/>
            </a:pPr>
            <a:r>
              <a:rPr lang="en-US" sz="7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 523</a:t>
            </a:r>
            <a:endParaRPr sz="7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-454025" y="10287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1301275" y="8001000"/>
            <a:ext cx="6286500" cy="1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Yifan Zhang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Olivia Dodge</a:t>
            </a:r>
            <a:endParaRPr sz="2500"/>
          </a:p>
        </p:txBody>
      </p:sp>
      <p:sp>
        <p:nvSpPr>
          <p:cNvPr id="203" name="Google Shape;203;p2"/>
          <p:cNvSpPr txBox="1"/>
          <p:nvPr/>
        </p:nvSpPr>
        <p:spPr>
          <a:xfrm>
            <a:off x="13606100" y="7077775"/>
            <a:ext cx="32532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Dec.10th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 txBox="1">
            <a:spLocks noGrp="1"/>
          </p:cNvSpPr>
          <p:nvPr>
            <p:ph type="title"/>
          </p:nvPr>
        </p:nvSpPr>
        <p:spPr>
          <a:xfrm>
            <a:off x="838200" y="574679"/>
            <a:ext cx="7162800" cy="139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125" rIns="0" bIns="0" anchor="t" anchorCtr="0">
            <a:noAutofit/>
          </a:bodyPr>
          <a:lstStyle/>
          <a:p>
            <a:pPr marL="12700" marR="5080" lvl="0" indent="0" algn="l" rtl="0">
              <a:lnSpc>
                <a:spcPct val="130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77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71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1970699" y="2993150"/>
            <a:ext cx="8426100" cy="58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noAutofit/>
          </a:bodyPr>
          <a:lstStyle/>
          <a:p>
            <a:pPr marL="3556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5700"/>
              <a:buFont typeface="Arial"/>
              <a:buChar char="•"/>
            </a:pPr>
            <a:r>
              <a:rPr lang="en-US" sz="57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5700" b="0" i="0" u="none" strike="noStrike" cap="none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57785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C234B"/>
              </a:buClr>
              <a:buSzPts val="5700"/>
              <a:buFont typeface="Arial"/>
              <a:buChar char="•"/>
            </a:pPr>
            <a:r>
              <a:rPr lang="en-US" sz="57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5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57785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C234B"/>
              </a:buClr>
              <a:buSzPts val="5700"/>
              <a:buFont typeface="Arial"/>
              <a:buChar char="•"/>
            </a:pPr>
            <a:r>
              <a:rPr lang="en-US" sz="57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Performance Evaluation</a:t>
            </a:r>
            <a:endParaRPr sz="57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57785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C234B"/>
              </a:buClr>
              <a:buSzPts val="5700"/>
              <a:buFont typeface="Calibri"/>
              <a:buChar char="•"/>
            </a:pPr>
            <a:r>
              <a:rPr lang="en-US" sz="57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57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57785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C234B"/>
              </a:buClr>
              <a:buSzPts val="5700"/>
              <a:buFont typeface="Calibri"/>
              <a:buChar char="•"/>
            </a:pPr>
            <a:r>
              <a:rPr lang="en-US" sz="57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57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21590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5700" b="0" i="0" u="none" strike="noStrike" cap="none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" descr="A picture containing building, brick, fireplace, fir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27" t="6912" r="3312" b="18431"/>
          <a:stretch/>
        </p:blipFill>
        <p:spPr>
          <a:xfrm>
            <a:off x="9525000" y="0"/>
            <a:ext cx="881747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"/>
          <p:cNvSpPr/>
          <p:nvPr/>
        </p:nvSpPr>
        <p:spPr>
          <a:xfrm>
            <a:off x="6860525" y="9835598"/>
            <a:ext cx="4614796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>
            <a:spLocks noGrp="1"/>
          </p:cNvSpPr>
          <p:nvPr>
            <p:ph type="title"/>
          </p:nvPr>
        </p:nvSpPr>
        <p:spPr>
          <a:xfrm>
            <a:off x="1295400" y="800100"/>
            <a:ext cx="88138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125" rIns="0" bIns="0" anchor="t" anchorCtr="0">
            <a:noAutofit/>
          </a:bodyPr>
          <a:lstStyle/>
          <a:p>
            <a:pPr marL="12700" marR="5080" lvl="0" indent="0" algn="l" rtl="0">
              <a:lnSpc>
                <a:spcPct val="1182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8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182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r>
              <a:rPr lang="en-US" sz="88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88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1625125" y="4952550"/>
            <a:ext cx="4674900" cy="30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000" b="1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10,000 observations</a:t>
            </a:r>
            <a:endParaRPr sz="4000" b="1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000" b="1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48 features </a:t>
            </a:r>
            <a:r>
              <a:rPr lang="en-US" sz="41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1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41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41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41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41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7018459" y="5447275"/>
            <a:ext cx="227266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8947327" y="4952550"/>
            <a:ext cx="3427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4000" b="1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1941350" y="6392450"/>
            <a:ext cx="5748900" cy="30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30 numeric variables:</a:t>
            </a: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 age,  blood_pressure, screen time</a:t>
            </a: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18 character variables:</a:t>
            </a: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gender,  diet type, access to insurance</a:t>
            </a: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healthy status</a:t>
            </a:r>
            <a:endParaRPr sz="26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9291125" y="5854000"/>
            <a:ext cx="8711100" cy="22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Explore the relationships among lifestyle choices, physical indicators, demographics, and psychological factors can help detect potential healthy risks.  The project is aim to transform high-dimensional raw data into useful insights to help make informed decisions in health-related field.</a:t>
            </a:r>
            <a:endParaRPr sz="2600" b="0" i="0" u="none" strike="noStrike" cap="none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af5f70fa6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100" y="2654650"/>
            <a:ext cx="7100800" cy="5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af5f70fa6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9075" y="2758900"/>
            <a:ext cx="6836125" cy="53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f5f70fa66_0_0"/>
          <p:cNvSpPr txBox="1"/>
          <p:nvPr/>
        </p:nvSpPr>
        <p:spPr>
          <a:xfrm>
            <a:off x="2687600" y="973100"/>
            <a:ext cx="10402800" cy="17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Distributions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eca1d6202_0_8"/>
          <p:cNvSpPr txBox="1"/>
          <p:nvPr/>
        </p:nvSpPr>
        <p:spPr>
          <a:xfrm>
            <a:off x="685800" y="7124700"/>
            <a:ext cx="11328300" cy="19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8275" rIns="0" bIns="0" anchor="t" anchorCtr="0">
            <a:noAutofit/>
          </a:bodyPr>
          <a:lstStyle/>
          <a:p>
            <a:pPr marL="12700" marR="508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aeca1d6202_0_8"/>
          <p:cNvSpPr txBox="1"/>
          <p:nvPr/>
        </p:nvSpPr>
        <p:spPr>
          <a:xfrm>
            <a:off x="685800" y="9379086"/>
            <a:ext cx="3611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Dec.10th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aeca1d6202_0_8"/>
          <p:cNvSpPr/>
          <p:nvPr/>
        </p:nvSpPr>
        <p:spPr>
          <a:xfrm>
            <a:off x="6860525" y="9835598"/>
            <a:ext cx="4614900" cy="4953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3aeca1d6202_0_8" title="my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375" y="2110150"/>
            <a:ext cx="6814025" cy="68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aeca1d6202_0_8"/>
          <p:cNvSpPr txBox="1"/>
          <p:nvPr/>
        </p:nvSpPr>
        <p:spPr>
          <a:xfrm>
            <a:off x="1736475" y="725350"/>
            <a:ext cx="7671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5080" lvl="0" indent="0" algn="l" rtl="0">
              <a:lnSpc>
                <a:spcPct val="1182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sz="6000">
              <a:solidFill>
                <a:schemeClr val="dk1"/>
              </a:solidFill>
            </a:endParaRPr>
          </a:p>
        </p:txBody>
      </p:sp>
      <p:pic>
        <p:nvPicPr>
          <p:cNvPr id="241" name="Google Shape;241;g3aeca1d6202_0_8" title="physical activity outli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7775" y="2107213"/>
            <a:ext cx="6796821" cy="681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55d6b771_6_16"/>
          <p:cNvSpPr txBox="1">
            <a:spLocks noGrp="1"/>
          </p:cNvSpPr>
          <p:nvPr>
            <p:ph type="title"/>
          </p:nvPr>
        </p:nvSpPr>
        <p:spPr>
          <a:xfrm>
            <a:off x="1295400" y="800100"/>
            <a:ext cx="103983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125" rIns="0" bIns="0" anchor="t" anchorCtr="0">
            <a:noAutofit/>
          </a:bodyPr>
          <a:lstStyle/>
          <a:p>
            <a:pPr marL="12700" marR="5080" lvl="0" indent="0" algn="l" rtl="0">
              <a:lnSpc>
                <a:spcPct val="1182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88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3ae55d6b771_6_16"/>
          <p:cNvSpPr txBox="1"/>
          <p:nvPr/>
        </p:nvSpPr>
        <p:spPr>
          <a:xfrm>
            <a:off x="7018447" y="5447275"/>
            <a:ext cx="29607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ae55d6b771_6_16"/>
          <p:cNvSpPr txBox="1"/>
          <p:nvPr/>
        </p:nvSpPr>
        <p:spPr>
          <a:xfrm>
            <a:off x="1526950" y="4877000"/>
            <a:ext cx="6584100" cy="4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Highly correlated features</a:t>
            </a: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Discretization of numeric variables</a:t>
            </a: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4B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rgbClr val="0C234B"/>
                </a:solidFill>
                <a:latin typeface="Calibri"/>
                <a:ea typeface="Calibri"/>
                <a:cs typeface="Calibri"/>
                <a:sym typeface="Calibri"/>
              </a:rPr>
              <a:t>Label encodings</a:t>
            </a: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000">
              <a:solidFill>
                <a:srgbClr val="0C23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eca1d6202_0_24"/>
          <p:cNvSpPr txBox="1">
            <a:spLocks noGrp="1"/>
          </p:cNvSpPr>
          <p:nvPr>
            <p:ph type="title"/>
          </p:nvPr>
        </p:nvSpPr>
        <p:spPr>
          <a:xfrm>
            <a:off x="2890022" y="967150"/>
            <a:ext cx="103521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 Mining</a:t>
            </a:r>
            <a:endParaRPr sz="60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aeca1d6202_0_24"/>
          <p:cNvSpPr/>
          <p:nvPr/>
        </p:nvSpPr>
        <p:spPr>
          <a:xfrm>
            <a:off x="2487172" y="2250229"/>
            <a:ext cx="13582650" cy="28575"/>
          </a:xfrm>
          <a:custGeom>
            <a:avLst/>
            <a:gdLst/>
            <a:ahLst/>
            <a:cxnLst/>
            <a:rect l="l" t="t" r="r" b="b"/>
            <a:pathLst>
              <a:path w="13582650" h="28575" extrusionOk="0">
                <a:moveTo>
                  <a:pt x="13582648" y="28574"/>
                </a:moveTo>
                <a:lnTo>
                  <a:pt x="0" y="28574"/>
                </a:lnTo>
                <a:lnTo>
                  <a:pt x="0" y="0"/>
                </a:lnTo>
                <a:lnTo>
                  <a:pt x="13582648" y="0"/>
                </a:lnTo>
                <a:lnTo>
                  <a:pt x="1358264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aeca1d6202_0_24"/>
          <p:cNvSpPr txBox="1"/>
          <p:nvPr/>
        </p:nvSpPr>
        <p:spPr>
          <a:xfrm rot="-5400000">
            <a:off x="-1747182" y="6284218"/>
            <a:ext cx="572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THE UNIVERSITY OF ARIZONA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aeca1d6202_0_24" title="itemfre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163" y="2861154"/>
            <a:ext cx="7690215" cy="641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aeca1d6202_0_24"/>
          <p:cNvSpPr txBox="1"/>
          <p:nvPr/>
        </p:nvSpPr>
        <p:spPr>
          <a:xfrm>
            <a:off x="10506800" y="3560875"/>
            <a:ext cx="6308400" cy="5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Glucose level, heart rate and cholesterol level </a:t>
            </a: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Family history → cholesterol level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Mental health support not that important related to glucose level, heart rate and cholesterol level 😲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"/>
          <p:cNvSpPr txBox="1">
            <a:spLocks noGrp="1"/>
          </p:cNvSpPr>
          <p:nvPr>
            <p:ph type="title"/>
          </p:nvPr>
        </p:nvSpPr>
        <p:spPr>
          <a:xfrm>
            <a:off x="2890022" y="967150"/>
            <a:ext cx="103521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 Mining</a:t>
            </a:r>
            <a:endParaRPr sz="60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2487172" y="2250229"/>
            <a:ext cx="13582650" cy="28575"/>
          </a:xfrm>
          <a:custGeom>
            <a:avLst/>
            <a:gdLst/>
            <a:ahLst/>
            <a:cxnLst/>
            <a:rect l="l" t="t" r="r" b="b"/>
            <a:pathLst>
              <a:path w="13582650" h="28575" extrusionOk="0">
                <a:moveTo>
                  <a:pt x="13582648" y="28574"/>
                </a:moveTo>
                <a:lnTo>
                  <a:pt x="0" y="28574"/>
                </a:lnTo>
                <a:lnTo>
                  <a:pt x="0" y="0"/>
                </a:lnTo>
                <a:lnTo>
                  <a:pt x="13582648" y="0"/>
                </a:lnTo>
                <a:lnTo>
                  <a:pt x="1358264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 rot="-5400000">
            <a:off x="-1747205" y="6284274"/>
            <a:ext cx="57281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rgbClr val="0C23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THE UNIVERSITY OF ARIZONA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5" title="Screenshot 2025-12-09 at 10.48.5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776" y="3107826"/>
            <a:ext cx="7690200" cy="631267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"/>
          <p:cNvSpPr txBox="1"/>
          <p:nvPr/>
        </p:nvSpPr>
        <p:spPr>
          <a:xfrm>
            <a:off x="11561875" y="3543300"/>
            <a:ext cx="63084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Normal glucose level, no family history, </a:t>
            </a:r>
            <a:r>
              <a:rPr lang="en-US" sz="3000">
                <a:solidFill>
                  <a:schemeClr val="dk1"/>
                </a:solidFill>
              </a:rPr>
              <a:t>insurance access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Mental health support: YES!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Median low screen time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Not pet owner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e55d6b771_6_0"/>
          <p:cNvSpPr txBox="1">
            <a:spLocks noGrp="1"/>
          </p:cNvSpPr>
          <p:nvPr>
            <p:ph type="title"/>
          </p:nvPr>
        </p:nvSpPr>
        <p:spPr>
          <a:xfrm>
            <a:off x="3681322" y="1714500"/>
            <a:ext cx="103521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ae55d6b771_6_0"/>
          <p:cNvSpPr txBox="1"/>
          <p:nvPr/>
        </p:nvSpPr>
        <p:spPr>
          <a:xfrm>
            <a:off x="3681322" y="2963690"/>
            <a:ext cx="75327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0C23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tree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g3ae55d6b771_6_0"/>
          <p:cNvSpPr/>
          <p:nvPr/>
        </p:nvSpPr>
        <p:spPr>
          <a:xfrm>
            <a:off x="3681322" y="3543279"/>
            <a:ext cx="13582650" cy="28575"/>
          </a:xfrm>
          <a:custGeom>
            <a:avLst/>
            <a:gdLst/>
            <a:ahLst/>
            <a:cxnLst/>
            <a:rect l="l" t="t" r="r" b="b"/>
            <a:pathLst>
              <a:path w="13582650" h="28575" extrusionOk="0">
                <a:moveTo>
                  <a:pt x="13582648" y="28574"/>
                </a:moveTo>
                <a:lnTo>
                  <a:pt x="0" y="28574"/>
                </a:lnTo>
                <a:lnTo>
                  <a:pt x="0" y="0"/>
                </a:lnTo>
                <a:lnTo>
                  <a:pt x="13582648" y="0"/>
                </a:lnTo>
                <a:lnTo>
                  <a:pt x="1358264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ae55d6b771_6_0"/>
          <p:cNvSpPr txBox="1"/>
          <p:nvPr/>
        </p:nvSpPr>
        <p:spPr>
          <a:xfrm rot="-5400000">
            <a:off x="-1747182" y="6284218"/>
            <a:ext cx="572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PRESENTATION  TITLE | THE UNIVERSITY OF ARIZONA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g3ae55d6b771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8325" y="4179473"/>
            <a:ext cx="5969151" cy="55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ae55d6b771_6_0" title="decision_tre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418" y="3676829"/>
            <a:ext cx="9923456" cy="5955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e55d6b771_6_8"/>
          <p:cNvSpPr txBox="1">
            <a:spLocks noGrp="1"/>
          </p:cNvSpPr>
          <p:nvPr>
            <p:ph type="title"/>
          </p:nvPr>
        </p:nvSpPr>
        <p:spPr>
          <a:xfrm>
            <a:off x="3681322" y="1714500"/>
            <a:ext cx="103521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ae55d6b771_6_8"/>
          <p:cNvSpPr txBox="1"/>
          <p:nvPr/>
        </p:nvSpPr>
        <p:spPr>
          <a:xfrm rot="-5400000">
            <a:off x="-1747182" y="6284218"/>
            <a:ext cx="572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PRESENTATION  TITLE | THE UNIVERSITY OF ARIZONA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ae55d6b771_6_8"/>
          <p:cNvSpPr/>
          <p:nvPr/>
        </p:nvSpPr>
        <p:spPr>
          <a:xfrm>
            <a:off x="3257022" y="2651104"/>
            <a:ext cx="13582650" cy="28575"/>
          </a:xfrm>
          <a:custGeom>
            <a:avLst/>
            <a:gdLst/>
            <a:ahLst/>
            <a:cxnLst/>
            <a:rect l="l" t="t" r="r" b="b"/>
            <a:pathLst>
              <a:path w="13582650" h="28575" extrusionOk="0">
                <a:moveTo>
                  <a:pt x="13582648" y="28574"/>
                </a:moveTo>
                <a:lnTo>
                  <a:pt x="0" y="28574"/>
                </a:lnTo>
                <a:lnTo>
                  <a:pt x="0" y="0"/>
                </a:lnTo>
                <a:lnTo>
                  <a:pt x="13582648" y="0"/>
                </a:lnTo>
                <a:lnTo>
                  <a:pt x="1358264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g3ae55d6b771_6_8" title="Random For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50" y="2917125"/>
            <a:ext cx="9952148" cy="597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ae55d6b771_6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0950" y="4130904"/>
            <a:ext cx="6477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5eadfc76_0_0"/>
          <p:cNvSpPr txBox="1"/>
          <p:nvPr/>
        </p:nvSpPr>
        <p:spPr>
          <a:xfrm>
            <a:off x="2813550" y="10550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g3ae5eadfc76_0_0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4075" y="3633075"/>
            <a:ext cx="8321925" cy="605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ae5eadfc76_0_0"/>
          <p:cNvSpPr/>
          <p:nvPr/>
        </p:nvSpPr>
        <p:spPr>
          <a:xfrm>
            <a:off x="1542522" y="2518442"/>
            <a:ext cx="13582650" cy="28575"/>
          </a:xfrm>
          <a:custGeom>
            <a:avLst/>
            <a:gdLst/>
            <a:ahLst/>
            <a:cxnLst/>
            <a:rect l="l" t="t" r="r" b="b"/>
            <a:pathLst>
              <a:path w="13582650" h="28575" extrusionOk="0">
                <a:moveTo>
                  <a:pt x="13582648" y="28574"/>
                </a:moveTo>
                <a:lnTo>
                  <a:pt x="0" y="28574"/>
                </a:lnTo>
                <a:lnTo>
                  <a:pt x="0" y="0"/>
                </a:lnTo>
                <a:lnTo>
                  <a:pt x="13582648" y="0"/>
                </a:lnTo>
                <a:lnTo>
                  <a:pt x="13582648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ae5eadfc76_0_0"/>
          <p:cNvSpPr txBox="1"/>
          <p:nvPr/>
        </p:nvSpPr>
        <p:spPr>
          <a:xfrm>
            <a:off x="2813550" y="2967400"/>
            <a:ext cx="12660900" cy="50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Hyperparameter Tuning (RandomizedSearchCV)</a:t>
            </a: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n_estimator</a:t>
            </a: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max_depth</a:t>
            </a: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min_samples_split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min_samples_leaf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/>
        </p:nvSpPr>
        <p:spPr>
          <a:xfrm>
            <a:off x="1582575" y="101112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2293325" y="2845400"/>
          <a:ext cx="11571600" cy="4360790"/>
        </p:xfrm>
        <a:graphic>
          <a:graphicData uri="http://schemas.openxmlformats.org/drawingml/2006/table">
            <a:tbl>
              <a:tblPr>
                <a:noFill/>
                <a:tableStyleId>{4E71C2B2-0F56-4812-8FC0-B9A63A64FECB}</a:tableStyleId>
              </a:tblPr>
              <a:tblGrid>
                <a:gridCol w="38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Accuracy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F 1 score</a:t>
                      </a:r>
                      <a:endParaRPr sz="3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Decision Tree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0.70675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0.828162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Random Forest</a:t>
                      </a:r>
                      <a:endParaRPr sz="30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0.7067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0.828147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Gradient Boosting</a:t>
                      </a:r>
                      <a:endParaRPr sz="30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0.7065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0.83</a:t>
                      </a:r>
                      <a:endParaRPr sz="3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f188c8ade_0_41"/>
          <p:cNvSpPr txBox="1"/>
          <p:nvPr/>
        </p:nvSpPr>
        <p:spPr>
          <a:xfrm>
            <a:off x="3275125" y="17364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Methods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af188c8ade_0_41"/>
          <p:cNvSpPr txBox="1"/>
          <p:nvPr/>
        </p:nvSpPr>
        <p:spPr>
          <a:xfrm>
            <a:off x="3429000" y="3197300"/>
            <a:ext cx="11908800" cy="50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High dimensional and heterogeneous data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Overlapping patient characteristics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No clear ground truth for validation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Outliers and varying feature scales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K-means clustering, hierarchical clustering, and Gaussian mixture model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f188c8ade_0_7"/>
          <p:cNvSpPr txBox="1"/>
          <p:nvPr/>
        </p:nvSpPr>
        <p:spPr>
          <a:xfrm>
            <a:off x="3275125" y="17364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g3af188c8ade_0_7"/>
          <p:cNvSpPr txBox="1"/>
          <p:nvPr/>
        </p:nvSpPr>
        <p:spPr>
          <a:xfrm>
            <a:off x="10541850" y="2270550"/>
            <a:ext cx="5190000" cy="5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Not a good method for clustering this dataset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Used elbow method to get k=3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PC1: age, cardiovascular indicators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PC2: glucose, metabolic health variations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g3af188c8ad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175" y="3401850"/>
            <a:ext cx="6716092" cy="52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af188c8ade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8275" y="6245800"/>
            <a:ext cx="6418547" cy="29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eb421d446_0_4"/>
          <p:cNvSpPr txBox="1"/>
          <p:nvPr/>
        </p:nvSpPr>
        <p:spPr>
          <a:xfrm>
            <a:off x="3275125" y="17364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3" name="Google Shape;323;g3aeb421d446_0_4"/>
          <p:cNvPicPr preferRelativeResize="0"/>
          <p:nvPr/>
        </p:nvPicPr>
        <p:blipFill rotWithShape="1">
          <a:blip r:embed="rId3">
            <a:alphaModFix/>
          </a:blip>
          <a:srcRect b="6603"/>
          <a:stretch/>
        </p:blipFill>
        <p:spPr>
          <a:xfrm>
            <a:off x="3429000" y="3187525"/>
            <a:ext cx="8350600" cy="61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aeb421d446_0_4"/>
          <p:cNvSpPr txBox="1"/>
          <p:nvPr/>
        </p:nvSpPr>
        <p:spPr>
          <a:xfrm>
            <a:off x="11538100" y="3736700"/>
            <a:ext cx="5190000" cy="5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Sample of n=5000 from whole dataset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○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Make it easier to see structure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Dendrogram- selected k=2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f188c8ade_0_19"/>
          <p:cNvSpPr txBox="1"/>
          <p:nvPr/>
        </p:nvSpPr>
        <p:spPr>
          <a:xfrm>
            <a:off x="3275125" y="17364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g3af188c8ade_0_19"/>
          <p:cNvSpPr txBox="1"/>
          <p:nvPr/>
        </p:nvSpPr>
        <p:spPr>
          <a:xfrm>
            <a:off x="10124825" y="3081475"/>
            <a:ext cx="7273500" cy="53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 clusters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Not spherically shaped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Similar age and BMI distributions between the clusters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Clusters equal in size, similarly distributed around age and bmi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PC1: Gender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PC2: BMI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g3af188c8ade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907" y="3372200"/>
            <a:ext cx="6405892" cy="50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af188c8ade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6300" y="6695825"/>
            <a:ext cx="7273549" cy="24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f188c8ade_0_28"/>
          <p:cNvSpPr txBox="1"/>
          <p:nvPr/>
        </p:nvSpPr>
        <p:spPr>
          <a:xfrm>
            <a:off x="3275125" y="1736475"/>
            <a:ext cx="991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Mixture Model</a:t>
            </a: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af188c8ade_0_28"/>
          <p:cNvSpPr txBox="1"/>
          <p:nvPr/>
        </p:nvSpPr>
        <p:spPr>
          <a:xfrm>
            <a:off x="3147375" y="2786750"/>
            <a:ext cx="15140700" cy="5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GMM models data as overlapping Gaussian clusters and assigns points probabilistically using expectation maximization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9 clusters; Size of clusters varies from 425 to 17898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PCA 1: Top features are age, cholesterol, blood pressure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PCA 2: Top features are glucose, cholesterol, insulin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1" name="Google Shape;341;g3af188c8ade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325" y="5189825"/>
            <a:ext cx="6156099" cy="47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af188c8ade_0_28"/>
          <p:cNvPicPr preferRelativeResize="0"/>
          <p:nvPr/>
        </p:nvPicPr>
        <p:blipFill rotWithShape="1">
          <a:blip r:embed="rId4">
            <a:alphaModFix/>
          </a:blip>
          <a:srcRect t="19510"/>
          <a:stretch/>
        </p:blipFill>
        <p:spPr>
          <a:xfrm>
            <a:off x="8885450" y="5189825"/>
            <a:ext cx="6635974" cy="403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463875" y="1745150"/>
            <a:ext cx="11477400" cy="14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9600" b="0" i="0" u="none" strike="noStrike" cap="none">
              <a:solidFill>
                <a:srgbClr val="0C2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1616" y="5066492"/>
            <a:ext cx="253999" cy="2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2425326" y="4940300"/>
            <a:ext cx="28740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Classification models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1785417" y="5702832"/>
            <a:ext cx="4036695" cy="142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Random forest model performs the best in terms of time and computational cost.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1785425" y="7051252"/>
            <a:ext cx="3867900" cy="14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Working hours, BMI, heart rate and cholesterol level are the most important features that factor the health status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7210107" y="5702832"/>
            <a:ext cx="4036695" cy="142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GMM captured the best subgroup structures. Across all clustering, age, BMI, and metabolic indicators were the strongest drivers of clustering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 txBox="1"/>
          <p:nvPr/>
        </p:nvSpPr>
        <p:spPr>
          <a:xfrm>
            <a:off x="7210107" y="7453073"/>
            <a:ext cx="3867785" cy="69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Clustering health data is difficult due to high dimensionality and high correlation between features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307" y="5066492"/>
            <a:ext cx="253999" cy="2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7850013" y="4940300"/>
            <a:ext cx="27051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Clustering Methods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12465887" y="5702832"/>
            <a:ext cx="4036695" cy="142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 should include feature selection, dimensionality reduction beyond PCA, or deep learning methods to better handle complex health datasets.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2489537" y="7661598"/>
            <a:ext cx="38679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In health analytics, poor feature quality or imbalance can directly distort risk predictions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42087" y="5066492"/>
            <a:ext cx="253999" cy="2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 txBox="1"/>
          <p:nvPr/>
        </p:nvSpPr>
        <p:spPr>
          <a:xfrm>
            <a:off x="12911925" y="4990250"/>
            <a:ext cx="4340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Limitations and Improvements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7"/>
          <p:cNvPicPr preferRelativeResize="0"/>
          <p:nvPr/>
        </p:nvPicPr>
        <p:blipFill rotWithShape="1">
          <a:blip r:embed="rId3">
            <a:alphaModFix/>
          </a:blip>
          <a:srcRect l="36479" t="7372" r="27725" b="2817"/>
          <a:stretch/>
        </p:blipFill>
        <p:spPr>
          <a:xfrm>
            <a:off x="3313159" y="1028701"/>
            <a:ext cx="4895850" cy="817309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/>
          <p:nvPr/>
        </p:nvSpPr>
        <p:spPr>
          <a:xfrm>
            <a:off x="9621675" y="6125320"/>
            <a:ext cx="7343775" cy="28575"/>
          </a:xfrm>
          <a:custGeom>
            <a:avLst/>
            <a:gdLst/>
            <a:ahLst/>
            <a:cxnLst/>
            <a:rect l="l" t="t" r="r" b="b"/>
            <a:pathLst>
              <a:path w="7343775" h="28575" extrusionOk="0">
                <a:moveTo>
                  <a:pt x="7343774" y="28574"/>
                </a:moveTo>
                <a:lnTo>
                  <a:pt x="0" y="28574"/>
                </a:lnTo>
                <a:lnTo>
                  <a:pt x="0" y="0"/>
                </a:lnTo>
                <a:lnTo>
                  <a:pt x="7343774" y="0"/>
                </a:lnTo>
                <a:lnTo>
                  <a:pt x="7343774" y="28574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9608975" y="2933561"/>
            <a:ext cx="7764625" cy="148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125" rIns="0" bIns="0" anchor="t" anchorCtr="0">
            <a:noAutofit/>
          </a:bodyPr>
          <a:lstStyle/>
          <a:p>
            <a:pPr marL="12700" marR="5080" lvl="0" indent="0" algn="l" rtl="0">
              <a:lnSpc>
                <a:spcPct val="10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C23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9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 rot="-5400000">
            <a:off x="-1747205" y="6284274"/>
            <a:ext cx="57281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234A"/>
                </a:solidFill>
                <a:latin typeface="Calibri"/>
                <a:ea typeface="Calibri"/>
                <a:cs typeface="Calibri"/>
                <a:sym typeface="Calibri"/>
              </a:rPr>
              <a:t>PRESENTATION  TITLE | THE UNIVERSITY OF ARIZONA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-454025" y="723900"/>
            <a:ext cx="908050" cy="908050"/>
          </a:xfrm>
          <a:custGeom>
            <a:avLst/>
            <a:gdLst/>
            <a:ahLst/>
            <a:cxnLst/>
            <a:rect l="l" t="t" r="r" b="b"/>
            <a:pathLst>
              <a:path w="908050" h="908050" extrusionOk="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 txBox="1">
            <a:spLocks noGrp="1"/>
          </p:cNvSpPr>
          <p:nvPr>
            <p:ph type="title"/>
          </p:nvPr>
        </p:nvSpPr>
        <p:spPr>
          <a:xfrm>
            <a:off x="9608975" y="6756125"/>
            <a:ext cx="69474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C2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Arizona Professional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B042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Macintosh PowerPoint</Application>
  <PresentationFormat>Custom</PresentationFormat>
  <Paragraphs>137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UArizona Professional</vt:lpstr>
      <vt:lpstr>Disease Risk from Daily Habits Info 523</vt:lpstr>
      <vt:lpstr>Table of Contents</vt:lpstr>
      <vt:lpstr>Dataset Project Overview </vt:lpstr>
      <vt:lpstr>PowerPoint Presentation</vt:lpstr>
      <vt:lpstr>PowerPoint Presentation</vt:lpstr>
      <vt:lpstr>Data Preprocessing</vt:lpstr>
      <vt:lpstr>Association Rule Mining</vt:lpstr>
      <vt:lpstr>Association Rule Mining</vt:lpstr>
      <vt:lpstr>Decision Tree </vt:lpstr>
      <vt:lpstr>Random Forest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Risk from Daily Habits Info 523</dc:title>
  <cp:lastModifiedBy>Zhang, Yifan - (yifanz1)</cp:lastModifiedBy>
  <cp:revision>1</cp:revision>
  <dcterms:modified xsi:type="dcterms:W3CDTF">2025-12-10T23:05:21Z</dcterms:modified>
</cp:coreProperties>
</file>